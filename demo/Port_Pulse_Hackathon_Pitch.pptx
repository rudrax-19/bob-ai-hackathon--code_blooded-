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e73c9a1fc0649b4" /><Relationship Type="http://schemas.openxmlformats.org/officeDocument/2006/relationships/extended-properties" Target="/docProps/app.xml" Id="Rd123e9a705214034" /><Relationship Type="http://schemas.openxmlformats.org/officeDocument/2006/relationships/officeDocument" Target="/ppt/presentation.xml" Id="R95b5577d605840f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b73260515e74117"/>
  </p:sldMasterIdLst>
  <p:notesMasterIdLst>
    <p:notesMasterId xmlns:r="http://schemas.openxmlformats.org/officeDocument/2006/relationships" r:id="Rcc2be08451b349f5"/>
  </p:notesMasterIdLst>
  <p:sldIdLst>
    <p:sldId xmlns:r="http://schemas.openxmlformats.org/officeDocument/2006/relationships" id="256" r:id="R79daa3c5e0034637"/>
    <p:sldId xmlns:r="http://schemas.openxmlformats.org/officeDocument/2006/relationships" id="257" r:id="Rf2268204de014c1f"/>
    <p:sldId xmlns:r="http://schemas.openxmlformats.org/officeDocument/2006/relationships" id="258" r:id="Rf218a991300f40fb"/>
    <p:sldId xmlns:r="http://schemas.openxmlformats.org/officeDocument/2006/relationships" id="259" r:id="R830c8d2223734aff"/>
    <p:sldId xmlns:r="http://schemas.openxmlformats.org/officeDocument/2006/relationships" id="260" r:id="R4efff00b85364ca0"/>
    <p:sldId xmlns:r="http://schemas.openxmlformats.org/officeDocument/2006/relationships" id="261" r:id="Rd0d8604918fc4a06"/>
    <p:sldId xmlns:r="http://schemas.openxmlformats.org/officeDocument/2006/relationships" id="262" r:id="R27d82883aa0541a8"/>
    <p:sldId xmlns:r="http://schemas.openxmlformats.org/officeDocument/2006/relationships" id="263" r:id="R790525a69472475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7e45490d2a7458b" /><Relationship Type="http://schemas.openxmlformats.org/officeDocument/2006/relationships/slideMaster" Target="/ppt/slideMasters/slideMaster1.xml" Id="Rab73260515e74117" /><Relationship Type="http://schemas.openxmlformats.org/officeDocument/2006/relationships/notesMaster" Target="/ppt/notesMasters/notesMaster1.xml" Id="Rcc2be08451b349f5" /><Relationship Type="http://schemas.openxmlformats.org/officeDocument/2006/relationships/presProps" Target="/ppt/presProps.xml" Id="Raf5c8069e0de4b26" /><Relationship Type="http://schemas.openxmlformats.org/officeDocument/2006/relationships/tableStyles" Target="/ppt/tableStyles.xml" Id="R1ec747fb31464656" /><Relationship Type="http://schemas.openxmlformats.org/officeDocument/2006/relationships/slide" Target="/ppt/slides/slide1.xml" Id="R79daa3c5e0034637" /><Relationship Type="http://schemas.openxmlformats.org/officeDocument/2006/relationships/slide" Target="/ppt/slides/slide2.xml" Id="Rf2268204de014c1f" /><Relationship Type="http://schemas.openxmlformats.org/officeDocument/2006/relationships/slide" Target="/ppt/slides/slide3.xml" Id="Rf218a991300f40fb" /><Relationship Type="http://schemas.openxmlformats.org/officeDocument/2006/relationships/slide" Target="/ppt/slides/slide4.xml" Id="R830c8d2223734aff" /><Relationship Type="http://schemas.openxmlformats.org/officeDocument/2006/relationships/slide" Target="/ppt/slides/slide5.xml" Id="R4efff00b85364ca0" /><Relationship Type="http://schemas.openxmlformats.org/officeDocument/2006/relationships/slide" Target="/ppt/slides/slide6.xml" Id="Rd0d8604918fc4a06" /><Relationship Type="http://schemas.openxmlformats.org/officeDocument/2006/relationships/slide" Target="/ppt/slides/slide7.xml" Id="R27d82883aa0541a8" /><Relationship Type="http://schemas.openxmlformats.org/officeDocument/2006/relationships/slide" Target="/ppt/slides/slide8.xml" Id="R790525a69472475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7aa6b5d8f5b497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0909bc89ec4433d" /><Relationship Type="http://schemas.openxmlformats.org/officeDocument/2006/relationships/notesMaster" Target="/ppt/notesMasters/notesMaster1.xml" Id="R54ecb2af73a94b9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9307719a3d04eda" /><Relationship Type="http://schemas.openxmlformats.org/officeDocument/2006/relationships/notesMaster" Target="/ppt/notesMasters/notesMaster1.xml" Id="Re9620c879be243d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3d153c0cc2941db" /><Relationship Type="http://schemas.openxmlformats.org/officeDocument/2006/relationships/notesMaster" Target="/ppt/notesMasters/notesMaster1.xml" Id="R5661b3952f56445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e9e1b9285c44f59" /><Relationship Type="http://schemas.openxmlformats.org/officeDocument/2006/relationships/notesMaster" Target="/ppt/notesMasters/notesMaster1.xml" Id="R14c3392c5f4040a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b5f74aefd834c25" /><Relationship Type="http://schemas.openxmlformats.org/officeDocument/2006/relationships/notesMaster" Target="/ppt/notesMasters/notesMaster1.xml" Id="R62d45b48ddfe4fa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bec0069f56f4931" /><Relationship Type="http://schemas.openxmlformats.org/officeDocument/2006/relationships/notesMaster" Target="/ppt/notesMasters/notesMaster1.xml" Id="Rfc75634cfaea443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b34d2c5bd544975" /><Relationship Type="http://schemas.openxmlformats.org/officeDocument/2006/relationships/notesMaster" Target="/ppt/notesMasters/notesMaster1.xml" Id="Rb961a77176164a8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6f162aaf4044989" /><Relationship Type="http://schemas.openxmlformats.org/officeDocument/2006/relationships/notesMaster" Target="/ppt/notesMasters/notesMaster1.xml" Id="Rd83a40dcd824445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Repository README: https://github.com/RudraX-19/bob-ai-hackathon--code_blooded-</a:t>
            </a:r>
          </a:p>
          <a:p xmlns:a="http://schemas.openxmlformats.org/drawingml/2006/main">
            <a:r>
              <a:t>Live app: https://bob-ai-hackathon-code-blooded.onrender.com/</a:t>
            </a:r>
          </a:p>
          <a:p xmlns:a="http://schemas.openxmlformats.org/drawingml/2006/main">
            <a:r>
              <a:t>Verified 2026-09-15.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Repository README: https://github.com/RudraX-19/bob-ai-hackathon--code_blooded-</a:t>
            </a:r>
          </a:p>
          <a:p xmlns:a="http://schemas.openxmlformats.org/drawingml/2006/main">
            <a:r>
              <a:t>Live app: https://bob-ai-hackathon-code-blooded.onrender.com/</a:t>
            </a:r>
          </a:p>
          <a:p xmlns:a="http://schemas.openxmlformats.org/drawingml/2006/main">
            <a:r>
              <a:t>Verified 2026-09-15.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Repository README: https://github.com/RudraX-19/bob-ai-hackathon--code_blooded-</a:t>
            </a:r>
          </a:p>
          <a:p xmlns:a="http://schemas.openxmlformats.org/drawingml/2006/main">
            <a:r>
              <a:t>Live app: https://bob-ai-hackathon-code-blooded.onrender.com/</a:t>
            </a:r>
          </a:p>
          <a:p xmlns:a="http://schemas.openxmlformats.org/drawingml/2006/main">
            <a:r>
              <a:t>Verified 2026-09-15.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Repository README: https://github.com/RudraX-19/bob-ai-hackathon--code_blooded-</a:t>
            </a:r>
          </a:p>
          <a:p xmlns:a="http://schemas.openxmlformats.org/drawingml/2006/main">
            <a:r>
              <a:t>Live app: https://bob-ai-hackathon-code-blooded.onrender.com/</a:t>
            </a:r>
          </a:p>
          <a:p xmlns:a="http://schemas.openxmlformats.org/drawingml/2006/main">
            <a:r>
              <a:t>Verified 2026-09-15.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Repository README: https://github.com/RudraX-19/bob-ai-hackathon--code_blooded-</a:t>
            </a:r>
          </a:p>
          <a:p xmlns:a="http://schemas.openxmlformats.org/drawingml/2006/main">
            <a:r>
              <a:t>Live app: https://bob-ai-hackathon-code-blooded.onrender.com/</a:t>
            </a:r>
          </a:p>
          <a:p xmlns:a="http://schemas.openxmlformats.org/drawingml/2006/main">
            <a:r>
              <a:t>Verified 2026-09-15.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Repository README: https://github.com/RudraX-19/bob-ai-hackathon--code_blooded-</a:t>
            </a:r>
          </a:p>
          <a:p xmlns:a="http://schemas.openxmlformats.org/drawingml/2006/main">
            <a:r>
              <a:t>Live app: https://bob-ai-hackathon-code-blooded.onrender.com/</a:t>
            </a:r>
          </a:p>
          <a:p xmlns:a="http://schemas.openxmlformats.org/drawingml/2006/main">
            <a:r>
              <a:t>Verified 2026-09-15.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Repository README: https://github.com/RudraX-19/bob-ai-hackathon--code_blooded-</a:t>
            </a:r>
          </a:p>
          <a:p xmlns:a="http://schemas.openxmlformats.org/drawingml/2006/main">
            <a:r>
              <a:t>Live app: https://bob-ai-hackathon-code-blooded.onrender.com/</a:t>
            </a:r>
          </a:p>
          <a:p xmlns:a="http://schemas.openxmlformats.org/drawingml/2006/main">
            <a:r>
              <a:t>Verified 2026-09-15.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Repository README: https://github.com/RudraX-19/bob-ai-hackathon--code_blooded-</a:t>
            </a:r>
          </a:p>
          <a:p xmlns:a="http://schemas.openxmlformats.org/drawingml/2006/main">
            <a:r>
              <a:t>Live app: https://bob-ai-hackathon-code-blooded.onrender.com/</a:t>
            </a:r>
          </a:p>
          <a:p xmlns:a="http://schemas.openxmlformats.org/drawingml/2006/main">
            <a:r>
              <a:t>Verified 2026-09-15.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3f72df92c664b2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9748740f6714c31" /><Relationship Type="http://schemas.openxmlformats.org/officeDocument/2006/relationships/slideLayout" Target="/ppt/slideLayouts/slideLayout1.xml" Id="R5e3d852ff2b34a8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e3d852ff2b34a8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0f5abbf2844f51" /><Relationship Type="http://schemas.openxmlformats.org/officeDocument/2006/relationships/notesSlide" Target="/ppt/notesSlides/notesSlide1.xml" Id="R48c7ea1255a9407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67671b5d844721" /><Relationship Type="http://schemas.openxmlformats.org/officeDocument/2006/relationships/notesSlide" Target="/ppt/notesSlides/notesSlide2.xml" Id="R66b85b1fa55d4f1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0feb8e86994b7d" /><Relationship Type="http://schemas.openxmlformats.org/officeDocument/2006/relationships/notesSlide" Target="/ppt/notesSlides/notesSlide3.xml" Id="R0aa4975d086448b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4d2a9347dc4a66" /><Relationship Type="http://schemas.openxmlformats.org/officeDocument/2006/relationships/notesSlide" Target="/ppt/notesSlides/notesSlide4.xml" Id="Ra3bc8f6e26da474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c7f1a38fab4424" /><Relationship Type="http://schemas.openxmlformats.org/officeDocument/2006/relationships/notesSlide" Target="/ppt/notesSlides/notesSlide5.xml" Id="Re6b1e8005f3f459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5e3a7143b2484b" /><Relationship Type="http://schemas.openxmlformats.org/officeDocument/2006/relationships/notesSlide" Target="/ppt/notesSlides/notesSlide6.xml" Id="R238cdb55b836486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378047f2f44c01" /><Relationship Type="http://schemas.openxmlformats.org/officeDocument/2006/relationships/notesSlide" Target="/ppt/notesSlides/notesSlide7.xml" Id="Rbd43974a7a9e4b0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2667be586a448e" /><Relationship Type="http://schemas.openxmlformats.org/officeDocument/2006/relationships/notesSlide" Target="/ppt/notesSlides/notesSlide8.xml" Id="R8dca0c046e2e432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36D9EA9-42F7-49E4-8D7F-FE00DE702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B33"/>
          </a:solidFill>
          <a:ln xmlns:a="http://schemas.openxmlformats.org/drawingml/2006/main" w="0">
            <a:solidFill>
              <a:srgbClr val="081B33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93D2AC-BBB3-4BC9-AE86-F4D4CF74D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8763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C7D7"/>
          </a:solidFill>
          <a:ln xmlns:a="http://schemas.openxmlformats.org/drawingml/2006/main" w="0">
            <a:solidFill>
              <a:srgbClr val="47C7D7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5D2285-678F-4718-9ED9-167EB7819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7DCEC"/>
                </a:solidFill>
              </a:defRPr>
            </a:pPr>
            <a:r>
              <a:rPr sz="1125" b="1">
                <a:solidFill>
                  <a:srgbClr val="B7DCEC"/>
                </a:solidFill>
              </a:rPr>
              <a:t>CODE BLOODED  •  AI TRACK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549172-3C41-433B-9193-85DD2AEFF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38300"/>
            <a:ext cx="619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5250" b="1">
                <a:solidFill>
                  <a:srgbClr val="FFFFFF"/>
                </a:solidFill>
              </a:defRPr>
            </a:pPr>
            <a:r>
              <a:rPr sz="5250" b="1">
                <a:solidFill>
                  <a:srgbClr val="FFFFFF"/>
                </a:solidFill>
              </a:rPr>
              <a:t>Port Pulse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D71D62-9B75-4862-ABCC-65ABD8415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28900"/>
            <a:ext cx="6191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D9EAF1"/>
                </a:solidFill>
              </a:defRPr>
            </a:pPr>
            <a:r>
              <a:rPr sz="2175" b="0">
                <a:solidFill>
                  <a:srgbClr val="D9EAF1"/>
                </a:solidFill>
              </a:rPr>
              <a:t>AI-powered container congestion prediction</a:t>
            </a:r>
          </a:p>
          <a:p xmlns:a="http://schemas.openxmlformats.org/drawingml/2006/main">
            <a:pPr algn="l">
              <a:defRPr sz="2175" b="0">
                <a:solidFill>
                  <a:srgbClr val="D9EAF1"/>
                </a:solidFill>
              </a:defRPr>
            </a:pPr>
            <a:r>
              <a:rPr sz="2175" b="0">
                <a:solidFill>
                  <a:srgbClr val="D9EAF1"/>
                </a:solidFill>
              </a:rPr>
              <a:t>and port operations optimisation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F4C44C-9A69-4190-9DAD-E5E03287C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86200"/>
            <a:ext cx="476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5877"/>
          </a:solidFill>
          <a:ln xmlns:a="http://schemas.openxmlformats.org/drawingml/2006/main" w="0">
            <a:solidFill>
              <a:srgbClr val="2C587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1F952C-5E7C-4ED7-B142-E21D6F0EC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33850"/>
            <a:ext cx="5143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Predict pressure. Assign smarter berths.</a:t>
            </a:r>
          </a:p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Turn the next 72 hours into an operational plan.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6B38ED-5ECE-4AA6-9134-3B180909F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1104900"/>
            <a:ext cx="3238500" cy="323850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0D2F4C"/>
          </a:solidFill>
          <a:ln xmlns:a="http://schemas.openxmlformats.org/drawingml/2006/main" w="0">
            <a:solidFill>
              <a:srgbClr val="0D2F4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3FFC8E-3692-4606-A4E5-60C0A71F3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1485900"/>
            <a:ext cx="2571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5550" b="1">
                <a:solidFill>
                  <a:srgbClr val="47C7D7"/>
                </a:solidFill>
              </a:defRPr>
            </a:pPr>
            <a:r>
              <a:rPr sz="5550" b="1">
                <a:solidFill>
                  <a:srgbClr val="47C7D7"/>
                </a:solidFill>
              </a:rPr>
              <a:t>72H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27F77A-0EA4-4822-AAAC-0F416060C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333625"/>
            <a:ext cx="2571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B7DCEC"/>
                </a:solidFill>
              </a:defRPr>
            </a:pPr>
            <a:r>
              <a:rPr sz="1350" b="1">
                <a:solidFill>
                  <a:srgbClr val="B7DCEC"/>
                </a:solidFill>
              </a:rPr>
              <a:t>OPERATIONS</a:t>
            </a:r>
          </a:p>
          <a:p xmlns:a="http://schemas.openxmlformats.org/drawingml/2006/main">
            <a:pPr algn="ctr">
              <a:defRPr sz="1350" b="1">
                <a:solidFill>
                  <a:srgbClr val="B7DCEC"/>
                </a:solidFill>
              </a:defRPr>
            </a:pPr>
            <a:r>
              <a:rPr sz="1350" b="1">
                <a:solidFill>
                  <a:srgbClr val="B7DCEC"/>
                </a:solidFill>
              </a:rPr>
              <a:t>HORIZON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B5FE30-04D9-42EC-85D5-889DED0DD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3105150"/>
            <a:ext cx="2266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5877"/>
          </a:solidFill>
          <a:ln xmlns:a="http://schemas.openxmlformats.org/drawingml/2006/main" w="0">
            <a:solidFill>
              <a:srgbClr val="2C587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F2F8AB-C1FD-41E0-9078-3FE74F6DE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333750"/>
            <a:ext cx="2571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Congestion score</a:t>
            </a:r>
          </a:p>
          <a:p xmlns:a="http://schemas.openxmlformats.org/drawingml/2006/main">
            <a:pPr algn="ctr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→ berth assignment</a:t>
            </a:r>
          </a:p>
          <a:p xmlns:a="http://schemas.openxmlformats.org/drawingml/2006/main">
            <a:pPr algn="ctr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→ AI plan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BC4161-FECE-46AB-938F-2DBBF277C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2935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7DCEC"/>
                </a:solidFill>
              </a:defRPr>
            </a:pPr>
            <a:r>
              <a:rPr sz="1050" b="0">
                <a:solidFill>
                  <a:srgbClr val="B7DCEC"/>
                </a:solidFill>
              </a:rPr>
              <a:t>Hackathon pitch  |  September 2026</a:t>
            </a:r>
          </a:p>
        </p:txBody>
      </p:sp>
    </p:spTree>
    <p:extLst>
      <p:ext uri="{BB962C8B-B14F-4D97-AF65-F5344CB8AC3E}">
        <p14:creationId xmlns:p14="http://schemas.microsoft.com/office/powerpoint/2010/main" val="91160970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E4653F0-FF28-489B-9AD5-DDDFEB13C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E6E9E"/>
                </a:solidFill>
              </a:defRPr>
            </a:pPr>
            <a:r>
              <a:rPr sz="1050" b="1">
                <a:solidFill>
                  <a:srgbClr val="0E6E9E"/>
                </a:solidFill>
              </a:rPr>
              <a:t>THE PROBLEM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0FAFDB-6E70-4EB1-BF8A-1F1EF528E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81B33"/>
                </a:solidFill>
              </a:defRPr>
            </a:pPr>
            <a:r>
              <a:rPr sz="2850" b="1">
                <a:solidFill>
                  <a:srgbClr val="081B33"/>
                </a:solidFill>
              </a:rPr>
              <a:t>Ports see congestion after it becomes a queue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26AAC1-7D7F-4298-995A-AB7CB3BB1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C6978"/>
                </a:solidFill>
              </a:defRPr>
            </a:pPr>
            <a:r>
              <a:rPr sz="1425" b="0">
                <a:solidFill>
                  <a:srgbClr val="5C6978"/>
                </a:solidFill>
              </a:rPr>
              <a:t>Operators need earlier, actionable decisions—not another static spreadsheet.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03ECF5-735B-40E1-ABB8-1E170680A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EE8"/>
          </a:solidFill>
          <a:ln xmlns:a="http://schemas.openxmlformats.org/drawingml/2006/main" w="0">
            <a:solidFill>
              <a:srgbClr val="D5DE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900093-7E18-44DD-B0BC-3B24327B3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81B33"/>
                </a:solidFill>
              </a:defRPr>
            </a:pPr>
            <a:r>
              <a:rPr sz="1725" b="1">
                <a:solidFill>
                  <a:srgbClr val="081B33"/>
                </a:solidFill>
              </a:rPr>
              <a:t>Today’s operational gap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9EA3F4-C363-43C7-BD0D-80298C8E2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09875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47C7D7"/>
                </a:solidFill>
              </a:defRPr>
            </a:pPr>
            <a:r>
              <a:rPr sz="1500" b="1">
                <a:solidFill>
                  <a:srgbClr val="47C7D7"/>
                </a:solidFill>
              </a:rPr>
              <a:t>—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27A875-BC87-4F8C-BFC6-D19968D1C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781300"/>
            <a:ext cx="457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81B33"/>
                </a:solidFill>
              </a:defRPr>
            </a:pPr>
            <a:r>
              <a:rPr sz="1500" b="1">
                <a:solidFill>
                  <a:srgbClr val="081B33"/>
                </a:solidFill>
              </a:rPr>
              <a:t>Reactive visibility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941368-0D60-437A-B4BC-90D573D1A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76575"/>
            <a:ext cx="457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978"/>
                </a:solidFill>
              </a:defRPr>
            </a:pPr>
            <a:r>
              <a:rPr sz="1200" b="0">
                <a:solidFill>
                  <a:srgbClr val="5C6978"/>
                </a:solidFill>
              </a:rPr>
              <a:t>Congestion hotspots are identified after vessels are already queuing.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FDAEFE-FA5D-4606-B4FB-48D0272AE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62375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47C7D7"/>
                </a:solidFill>
              </a:defRPr>
            </a:pPr>
            <a:r>
              <a:rPr sz="1500" b="1">
                <a:solidFill>
                  <a:srgbClr val="47C7D7"/>
                </a:solidFill>
              </a:rPr>
              <a:t>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16458F-A6C5-4D6B-A3E2-015B77472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733800"/>
            <a:ext cx="457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81B33"/>
                </a:solidFill>
              </a:defRPr>
            </a:pPr>
            <a:r>
              <a:rPr sz="1500" b="1">
                <a:solidFill>
                  <a:srgbClr val="081B33"/>
                </a:solidFill>
              </a:rPr>
              <a:t>Fragmented decisions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77C900-CE7E-4DE2-8395-D5B7710F0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029075"/>
            <a:ext cx="457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978"/>
                </a:solidFill>
              </a:defRPr>
            </a:pPr>
            <a:r>
              <a:rPr sz="1200" b="0">
                <a:solidFill>
                  <a:srgbClr val="5C6978"/>
                </a:solidFill>
              </a:rPr>
              <a:t>Berth allocation, crane scheduling, and routing must be coordinated under time pressure.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1C1210-8DCD-4B8A-9747-3C2BCC745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14875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47C7D7"/>
                </a:solidFill>
              </a:defRPr>
            </a:pPr>
            <a:r>
              <a:rPr sz="1500" b="1">
                <a:solidFill>
                  <a:srgbClr val="47C7D7"/>
                </a:solidFill>
              </a:rPr>
              <a:t>—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2651B4-7F68-43C6-81CB-FC0E39BD2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686300"/>
            <a:ext cx="457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81B33"/>
                </a:solidFill>
              </a:defRPr>
            </a:pPr>
            <a:r>
              <a:rPr sz="1500" b="1">
                <a:solidFill>
                  <a:srgbClr val="081B33"/>
                </a:solidFill>
              </a:rPr>
              <a:t>Safety constraints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846EBCA-1E93-48B4-9D8A-3BCA087A7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981575"/>
            <a:ext cx="457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978"/>
                </a:solidFill>
              </a:defRPr>
            </a:pPr>
            <a:r>
              <a:rPr sz="1200" b="0">
                <a:solidFill>
                  <a:srgbClr val="5C6978"/>
                </a:solidFill>
              </a:rPr>
              <a:t>Hazmat vessels and berth constraints raise the cost of a poor assignment.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6F49480-D222-4042-9BEF-B66FDF7C1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295525"/>
            <a:ext cx="4762500" cy="3028950"/>
          </a:xfrm>
          <a:prstGeom xmlns:a="http://schemas.openxmlformats.org/drawingml/2006/main" prst="roundRect">
            <a:avLst>
              <a:gd name="adj" fmla="val 3774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0">
            <a:solidFill>
              <a:srgbClr val="F5F7F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55DEC93-931B-4AEF-9D28-36BF9216E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686050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6E9E"/>
                </a:solidFill>
              </a:defRPr>
            </a:pPr>
            <a:r>
              <a:rPr sz="1650" b="1">
                <a:solidFill>
                  <a:srgbClr val="0E6E9E"/>
                </a:solidFill>
              </a:rPr>
              <a:t>The operational question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0F7DCE8-27D6-420C-9FE5-D0BE6C8B6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71825"/>
            <a:ext cx="3810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81B33"/>
                </a:solidFill>
              </a:defRPr>
            </a:pPr>
            <a:r>
              <a:rPr sz="2325" b="1">
                <a:solidFill>
                  <a:srgbClr val="081B33"/>
                </a:solidFill>
              </a:rPr>
              <a:t>Which terminal will bottleneck—</a:t>
            </a:r>
          </a:p>
          <a:p xmlns:a="http://schemas.openxmlformats.org/drawingml/2006/main">
            <a:pPr algn="l">
              <a:defRPr sz="2325" b="1">
                <a:solidFill>
                  <a:srgbClr val="081B33"/>
                </a:solidFill>
              </a:defRPr>
            </a:pPr>
            <a:r>
              <a:rPr sz="2325" b="1">
                <a:solidFill>
                  <a:srgbClr val="081B33"/>
                </a:solidFill>
              </a:rPr>
              <a:t>and what should the next shift do now?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497991D-A2D5-4549-82D1-49C799C0E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305300"/>
            <a:ext cx="3143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C7D7"/>
          </a:solidFill>
          <a:ln xmlns:a="http://schemas.openxmlformats.org/drawingml/2006/main" w="0">
            <a:solidFill>
              <a:srgbClr val="47C7D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FAB3B8D-35C5-4D34-ABAE-815EAB342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533900"/>
            <a:ext cx="3714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C6978"/>
                </a:solidFill>
              </a:defRPr>
            </a:pPr>
            <a:r>
              <a:rPr sz="1275" b="0">
                <a:solidFill>
                  <a:srgbClr val="5C6978"/>
                </a:solidFill>
              </a:rPr>
              <a:t>Port Pulse is designed to convert schedules and capacity into a 72-hour response plan.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68B60DF-7038-4361-B920-BC1E5A943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C6978"/>
                </a:solidFill>
              </a:defRPr>
            </a:pPr>
            <a:r>
              <a:rPr sz="825" b="1">
                <a:solidFill>
                  <a:srgbClr val="5C6978"/>
                </a:solidFill>
              </a:rPr>
              <a:t>PORT PULSE  /  CODE BLOODED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5461F15-3AD4-4B7E-A134-07F4B15BC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C6978"/>
                </a:solidFill>
              </a:defRPr>
            </a:pPr>
            <a:r>
              <a:rPr sz="825" b="1">
                <a:solidFill>
                  <a:srgbClr val="5C6978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70290906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F20CB3D-D3AD-488B-9775-36860ADF2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E6E9E"/>
                </a:solidFill>
              </a:defRPr>
            </a:pPr>
            <a:r>
              <a:rPr sz="1050" b="1">
                <a:solidFill>
                  <a:srgbClr val="0E6E9E"/>
                </a:solidFill>
              </a:rPr>
              <a:t>THE SOLUTION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544FF6-6512-43CE-B615-10BC12530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81B33"/>
                </a:solidFill>
              </a:defRPr>
            </a:pPr>
            <a:r>
              <a:rPr sz="2850" b="1">
                <a:solidFill>
                  <a:srgbClr val="081B33"/>
                </a:solidFill>
              </a:rPr>
              <a:t>A decision layer for the port operations team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CCA9CA-9C8A-4962-8DB2-D49C8D192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C6978"/>
                </a:solidFill>
              </a:defRPr>
            </a:pPr>
            <a:r>
              <a:rPr sz="1425" b="0">
                <a:solidFill>
                  <a:srgbClr val="5C6978"/>
                </a:solidFill>
              </a:rPr>
              <a:t>Port Pulse ingests schedules and berth capacity, scores terminal pressure, and prepares operational action.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68A73F-2A02-43DB-9D03-BFBB50856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EE8"/>
          </a:solidFill>
          <a:ln xmlns:a="http://schemas.openxmlformats.org/drawingml/2006/main" w="0">
            <a:solidFill>
              <a:srgbClr val="D5DE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71416F-D106-49CF-B2AD-27A6B36B4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52700"/>
            <a:ext cx="2190750" cy="228600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EAF5F7"/>
          </a:solidFill>
          <a:ln xmlns:a="http://schemas.openxmlformats.org/drawingml/2006/main" w="0">
            <a:solidFill>
              <a:srgbClr val="EAF5F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EE6C03-51BA-461F-A5B9-0AA0CDAA9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90825"/>
            <a:ext cx="1762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E6E9E"/>
                </a:solidFill>
              </a:defRPr>
            </a:pPr>
            <a:r>
              <a:rPr sz="1575" b="1">
                <a:solidFill>
                  <a:srgbClr val="0E6E9E"/>
                </a:solidFill>
              </a:rPr>
              <a:t>1  Ingest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09BF1A-4410-428E-98B2-18E5E3290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86125"/>
            <a:ext cx="17621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81B33"/>
                </a:solidFill>
              </a:defRPr>
            </a:pPr>
            <a:r>
              <a:rPr sz="1425" b="1">
                <a:solidFill>
                  <a:srgbClr val="081B33"/>
                </a:solidFill>
              </a:rPr>
              <a:t>Vessel schedules</a:t>
            </a:r>
          </a:p>
          <a:p xmlns:a="http://schemas.openxmlformats.org/drawingml/2006/main">
            <a:pPr algn="l">
              <a:defRPr sz="1425" b="1">
                <a:solidFill>
                  <a:srgbClr val="081B33"/>
                </a:solidFill>
              </a:defRPr>
            </a:pPr>
            <a:r>
              <a:rPr sz="1425" b="1">
                <a:solidFill>
                  <a:srgbClr val="081B33"/>
                </a:solidFill>
              </a:rPr>
              <a:t>Berth capacity</a:t>
            </a:r>
          </a:p>
          <a:p xmlns:a="http://schemas.openxmlformats.org/drawingml/2006/main">
            <a:pPr algn="l">
              <a:defRPr sz="1425" b="1">
                <a:solidFill>
                  <a:srgbClr val="081B33"/>
                </a:solidFill>
              </a:defRPr>
            </a:pPr>
            <a:r>
              <a:rPr sz="1425" b="1">
                <a:solidFill>
                  <a:srgbClr val="081B33"/>
                </a:solidFill>
              </a:rPr>
              <a:t>Incident data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F79E5A-2CE3-471A-8242-533E30A15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381375"/>
            <a:ext cx="304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47C7D7"/>
                </a:solidFill>
              </a:defRPr>
            </a:pPr>
            <a:r>
              <a:rPr sz="2550" b="1">
                <a:solidFill>
                  <a:srgbClr val="47C7D7"/>
                </a:solidFill>
              </a:rPr>
              <a:t>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60B8CD-7AC0-453E-BE03-678C0C6D8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552700"/>
            <a:ext cx="2190750" cy="228600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E1F1F6"/>
          </a:solidFill>
          <a:ln xmlns:a="http://schemas.openxmlformats.org/drawingml/2006/main" w="0">
            <a:solidFill>
              <a:srgbClr val="E1F1F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BD0FCC-C774-4F27-ADE6-C330AAA1B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790825"/>
            <a:ext cx="1762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E6E9E"/>
                </a:solidFill>
              </a:defRPr>
            </a:pPr>
            <a:r>
              <a:rPr sz="1575" b="1">
                <a:solidFill>
                  <a:srgbClr val="0E6E9E"/>
                </a:solidFill>
              </a:rPr>
              <a:t>2  Score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2E19A6-264B-4C8C-B055-E92DEF2D0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286125"/>
            <a:ext cx="17621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81B33"/>
                </a:solidFill>
              </a:defRPr>
            </a:pPr>
            <a:r>
              <a:rPr sz="1425" b="1">
                <a:solidFill>
                  <a:srgbClr val="081B33"/>
                </a:solidFill>
              </a:rPr>
              <a:t>Terminal congestion</a:t>
            </a:r>
          </a:p>
          <a:p xmlns:a="http://schemas.openxmlformats.org/drawingml/2006/main">
            <a:pPr algn="l">
              <a:defRPr sz="1425" b="1">
                <a:solidFill>
                  <a:srgbClr val="081B33"/>
                </a:solidFill>
              </a:defRPr>
            </a:pPr>
            <a:r>
              <a:rPr sz="1425" b="1">
                <a:solidFill>
                  <a:srgbClr val="081B33"/>
                </a:solidFill>
              </a:rPr>
              <a:t>score: 0–100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1D0014-0C3C-4317-A5C5-C0FFCF4B4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381375"/>
            <a:ext cx="304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47C7D7"/>
                </a:solidFill>
              </a:defRPr>
            </a:pPr>
            <a:r>
              <a:rPr sz="2550" b="1">
                <a:solidFill>
                  <a:srgbClr val="47C7D7"/>
                </a:solidFill>
              </a:rPr>
              <a:t>›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2DEFDD-5AE5-40DC-BBFE-CE0A14F57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552700"/>
            <a:ext cx="2190750" cy="228600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D8F4F1"/>
          </a:solidFill>
          <a:ln xmlns:a="http://schemas.openxmlformats.org/drawingml/2006/main" w="0">
            <a:solidFill>
              <a:srgbClr val="D8F4F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B386A26-DEBB-46A9-A1B9-A2A5EE84F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790825"/>
            <a:ext cx="1762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E6E9E"/>
                </a:solidFill>
              </a:defRPr>
            </a:pPr>
            <a:r>
              <a:rPr sz="1575" b="1">
                <a:solidFill>
                  <a:srgbClr val="0E6E9E"/>
                </a:solidFill>
              </a:rPr>
              <a:t>3  Assign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327F75E-A5CE-4BAF-9FCB-315AD3EFE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286125"/>
            <a:ext cx="17621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81B33"/>
                </a:solidFill>
              </a:defRPr>
            </a:pPr>
            <a:r>
              <a:rPr sz="1425" b="1">
                <a:solidFill>
                  <a:srgbClr val="081B33"/>
                </a:solidFill>
              </a:rPr>
              <a:t>Best-fit berth</a:t>
            </a:r>
          </a:p>
          <a:p xmlns:a="http://schemas.openxmlformats.org/drawingml/2006/main">
            <a:pPr algn="l">
              <a:defRPr sz="1425" b="1">
                <a:solidFill>
                  <a:srgbClr val="081B33"/>
                </a:solidFill>
              </a:defRPr>
            </a:pPr>
            <a:r>
              <a:rPr sz="1425" b="1">
                <a:solidFill>
                  <a:srgbClr val="081B33"/>
                </a:solidFill>
              </a:rPr>
              <a:t>+ alternate terminal</a:t>
            </a:r>
          </a:p>
          <a:p xmlns:a="http://schemas.openxmlformats.org/drawingml/2006/main">
            <a:pPr algn="l">
              <a:defRPr sz="1425" b="1">
                <a:solidFill>
                  <a:srgbClr val="081B33"/>
                </a:solidFill>
              </a:defRPr>
            </a:pPr>
            <a:r>
              <a:rPr sz="1425" b="1">
                <a:solidFill>
                  <a:srgbClr val="081B33"/>
                </a:solidFill>
              </a:rPr>
              <a:t>when needed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C5532B1-2D22-4C3C-8916-414B67099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381375"/>
            <a:ext cx="304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47C7D7"/>
                </a:solidFill>
              </a:defRPr>
            </a:pPr>
            <a:r>
              <a:rPr sz="2550" b="1">
                <a:solidFill>
                  <a:srgbClr val="47C7D7"/>
                </a:solidFill>
              </a:rPr>
              <a:t>›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3FAFFA5-BE98-473E-BE56-9EEAE2C0B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552700"/>
            <a:ext cx="2190750" cy="228600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EAF5F7"/>
          </a:solidFill>
          <a:ln xmlns:a="http://schemas.openxmlformats.org/drawingml/2006/main" w="0">
            <a:solidFill>
              <a:srgbClr val="EAF5F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495C12A-BBAC-4A22-A7C5-76D2A38F3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790825"/>
            <a:ext cx="1762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E6E9E"/>
                </a:solidFill>
              </a:defRPr>
            </a:pPr>
            <a:r>
              <a:rPr sz="1575" b="1">
                <a:solidFill>
                  <a:srgbClr val="0E6E9E"/>
                </a:solidFill>
              </a:rPr>
              <a:t>4  Plan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0701A09-74D2-446E-A3D5-0C3DE1BD7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286125"/>
            <a:ext cx="17621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81B33"/>
                </a:solidFill>
              </a:defRPr>
            </a:pPr>
            <a:r>
              <a:rPr sz="1425" b="1">
                <a:solidFill>
                  <a:srgbClr val="081B33"/>
                </a:solidFill>
              </a:rPr>
              <a:t>Natural-language</a:t>
            </a:r>
          </a:p>
          <a:p xmlns:a="http://schemas.openxmlformats.org/drawingml/2006/main">
            <a:pPr algn="l">
              <a:defRPr sz="1425" b="1">
                <a:solidFill>
                  <a:srgbClr val="081B33"/>
                </a:solidFill>
              </a:defRPr>
            </a:pPr>
            <a:r>
              <a:rPr sz="1425" b="1">
                <a:solidFill>
                  <a:srgbClr val="081B33"/>
                </a:solidFill>
              </a:rPr>
              <a:t>72-hour operations</a:t>
            </a:r>
          </a:p>
          <a:p xmlns:a="http://schemas.openxmlformats.org/drawingml/2006/main">
            <a:pPr algn="l">
              <a:defRPr sz="1425" b="1">
                <a:solidFill>
                  <a:srgbClr val="081B33"/>
                </a:solidFill>
              </a:defRPr>
            </a:pPr>
            <a:r>
              <a:rPr sz="1425" b="1">
                <a:solidFill>
                  <a:srgbClr val="081B33"/>
                </a:solidFill>
              </a:rPr>
              <a:t>plan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E4B0B58-DAD5-49A2-97A5-B9A29E283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0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81B33"/>
                </a:solidFill>
              </a:defRPr>
            </a:pPr>
            <a:r>
              <a:rPr sz="1725" b="1">
                <a:solidFill>
                  <a:srgbClr val="081B33"/>
                </a:solidFill>
              </a:rPr>
              <a:t>The point is not a score alone: every score is tied to a proposed operational response.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509C792-1E43-44C0-8389-1B4442162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C6978"/>
                </a:solidFill>
              </a:defRPr>
            </a:pPr>
            <a:r>
              <a:rPr sz="825" b="1">
                <a:solidFill>
                  <a:srgbClr val="5C6978"/>
                </a:solidFill>
              </a:rPr>
              <a:t>PORT PULSE  /  CODE BLOODED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826AD48-6C25-4B90-9CFE-529939BBE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C6978"/>
                </a:solidFill>
              </a:defRPr>
            </a:pPr>
            <a:r>
              <a:rPr sz="825" b="1">
                <a:solidFill>
                  <a:srgbClr val="5C6978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43734657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07F1441-310B-4DC3-9831-0C64445E1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E6E9E"/>
                </a:solidFill>
              </a:defRPr>
            </a:pPr>
            <a:r>
              <a:rPr sz="1050" b="1">
                <a:solidFill>
                  <a:srgbClr val="0E6E9E"/>
                </a:solidFill>
              </a:rPr>
              <a:t>DECISION ENGINE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9DFDEB-C196-4C13-A548-E3A24EE56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81B33"/>
                </a:solidFill>
              </a:defRPr>
            </a:pPr>
            <a:r>
              <a:rPr sz="2850" b="1">
                <a:solidFill>
                  <a:srgbClr val="081B33"/>
                </a:solidFill>
              </a:rPr>
              <a:t>A transparent score directs the response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F4E4C6-2850-4711-A1D9-21AC0634F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C6978"/>
                </a:solidFill>
              </a:defRPr>
            </a:pPr>
            <a:r>
              <a:rPr sz="1425" b="0">
                <a:solidFill>
                  <a:srgbClr val="5C6978"/>
                </a:solidFill>
              </a:rPr>
              <a:t>Each terminal receives a 0–100 multi-factor congestion score.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0978B3-8B77-421D-8205-93F211A3B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EE8"/>
          </a:solidFill>
          <a:ln xmlns:a="http://schemas.openxmlformats.org/drawingml/2006/main" w="0">
            <a:solidFill>
              <a:srgbClr val="D5DE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B2A971-3FE1-4949-995D-13A85B45F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4762500" cy="32004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081B33"/>
          </a:solidFill>
          <a:ln xmlns:a="http://schemas.openxmlformats.org/drawingml/2006/main" w="0">
            <a:solidFill>
              <a:srgbClr val="081B3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CF531F-9E5E-4051-A28A-43115E5F2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600325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7DCEC"/>
                </a:solidFill>
              </a:defRPr>
            </a:pPr>
            <a:r>
              <a:rPr sz="1125" b="1">
                <a:solidFill>
                  <a:srgbClr val="B7DCEC"/>
                </a:solidFill>
              </a:rPr>
              <a:t>CONGESTION SCORE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02E142-AB2B-4FED-83B4-1D3837DC2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971800"/>
            <a:ext cx="247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4275" b="1">
                <a:solidFill>
                  <a:srgbClr val="FFFFFF"/>
                </a:solidFill>
              </a:defRPr>
            </a:pPr>
            <a:r>
              <a:rPr sz="4275" b="1">
                <a:solidFill>
                  <a:srgbClr val="FFFFFF"/>
                </a:solidFill>
              </a:rPr>
              <a:t>0–100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1D3013-306D-485B-9CAC-941E733EF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752850"/>
            <a:ext cx="361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9EAF1"/>
                </a:solidFill>
              </a:defRPr>
            </a:pPr>
            <a:r>
              <a:rPr sz="1350" b="0">
                <a:solidFill>
                  <a:srgbClr val="D9EAF1"/>
                </a:solidFill>
              </a:rPr>
              <a:t>Weighted operational pressure—not a black box.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F45D19-246C-45F5-973F-7CBBA0FCC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26720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7C7D7"/>
                </a:solidFill>
              </a:defRPr>
            </a:pPr>
            <a:r>
              <a:rPr sz="1125" b="1">
                <a:solidFill>
                  <a:srgbClr val="47C7D7"/>
                </a:solidFill>
              </a:rPr>
              <a:t>40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442083-64B6-4F64-B9D3-4CA6D3D60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2672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Berth utilisation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058FCD-0106-4291-B303-C4942545A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53390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7C7D7"/>
                </a:solidFill>
              </a:defRPr>
            </a:pPr>
            <a:r>
              <a:rPr sz="1125" b="1">
                <a:solidFill>
                  <a:srgbClr val="47C7D7"/>
                </a:solidFill>
              </a:rPr>
              <a:t>30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F9E97A-0439-43F9-8834-24BD50C60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5339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Queue pressure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043599-2CCD-42DF-AE70-084360292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80060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7C7D7"/>
                </a:solidFill>
              </a:defRPr>
            </a:pPr>
            <a:r>
              <a:rPr sz="1125" b="1">
                <a:solidFill>
                  <a:srgbClr val="47C7D7"/>
                </a:solidFill>
              </a:rPr>
              <a:t>15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F17FF5D-EBD9-4D27-96BC-58C5014E1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8006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Incident history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7A8236D-4602-4C32-9E8F-29425C1E2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06730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7C7D7"/>
                </a:solidFill>
              </a:defRPr>
            </a:pPr>
            <a:r>
              <a:rPr sz="1125" b="1">
                <a:solidFill>
                  <a:srgbClr val="47C7D7"/>
                </a:solidFill>
              </a:rPr>
              <a:t>15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FF9FF23-28C8-4E5F-AA10-923B47734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0673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Priority vessel load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A459F7A-9D0B-472A-9679-E97766004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324100"/>
            <a:ext cx="352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81B33"/>
                </a:solidFill>
              </a:defRPr>
            </a:pPr>
            <a:r>
              <a:rPr sz="1800" b="1">
                <a:solidFill>
                  <a:srgbClr val="081B33"/>
                </a:solidFill>
              </a:rPr>
              <a:t>What happens next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D308DE9-4F82-44DB-9070-13630F84B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886075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47C7D7"/>
                </a:solidFill>
              </a:defRPr>
            </a:pPr>
            <a:r>
              <a:rPr sz="1500" b="1">
                <a:solidFill>
                  <a:srgbClr val="47C7D7"/>
                </a:solidFill>
              </a:rPr>
              <a:t>—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874230A-6381-4640-B936-FE1C13CE3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857500"/>
            <a:ext cx="4048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81B33"/>
                </a:solidFill>
              </a:defRPr>
            </a:pPr>
            <a:r>
              <a:rPr sz="1500" b="1">
                <a:solidFill>
                  <a:srgbClr val="081B33"/>
                </a:solidFill>
              </a:rPr>
              <a:t>Best-fit berth assignment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22EAB39-EB15-491A-8C68-23E61534C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152775"/>
            <a:ext cx="4048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978"/>
                </a:solidFill>
              </a:defRPr>
            </a:pPr>
            <a:r>
              <a:rPr sz="1200" b="0">
                <a:solidFill>
                  <a:srgbClr val="5C6978"/>
                </a:solidFill>
              </a:rPr>
              <a:t>Evaluates vessel length, TEU capacity, water depth, and hazmat constraints.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267EA08-9729-4D10-896E-704865C59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914775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47C7D7"/>
                </a:solidFill>
              </a:defRPr>
            </a:pPr>
            <a:r>
              <a:rPr sz="1500" b="1">
                <a:solidFill>
                  <a:srgbClr val="47C7D7"/>
                </a:solidFill>
              </a:rPr>
              <a:t>—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0BCBABB-3D91-4C8F-8335-E97C2FCAE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886200"/>
            <a:ext cx="4048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81B33"/>
                </a:solidFill>
              </a:defRPr>
            </a:pPr>
            <a:r>
              <a:rPr sz="1500" b="1">
                <a:solidFill>
                  <a:srgbClr val="081B33"/>
                </a:solidFill>
              </a:rPr>
              <a:t>Fallback routing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D874B59-E3AC-4A5F-8D28-3B1B8A2A8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181475"/>
            <a:ext cx="4048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978"/>
                </a:solidFill>
              </a:defRPr>
            </a:pPr>
            <a:r>
              <a:rPr sz="1200" b="0">
                <a:solidFill>
                  <a:srgbClr val="5C6978"/>
                </a:solidFill>
              </a:rPr>
              <a:t>Recommends an alternate terminal when the primary option is full.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8DC49A1-EBC2-4BFE-89D7-C40AEC390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943475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47C7D7"/>
                </a:solidFill>
              </a:defRPr>
            </a:pPr>
            <a:r>
              <a:rPr sz="1500" b="1">
                <a:solidFill>
                  <a:srgbClr val="47C7D7"/>
                </a:solidFill>
              </a:rPr>
              <a:t>—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CD100BD-70D7-4A0D-BC71-CD3257678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914900"/>
            <a:ext cx="4048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81B33"/>
                </a:solidFill>
              </a:defRPr>
            </a:pPr>
            <a:r>
              <a:rPr sz="1500" b="1">
                <a:solidFill>
                  <a:srgbClr val="081B33"/>
                </a:solidFill>
              </a:rPr>
              <a:t>Tactical plan generation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62FAF06-32F8-4850-9F68-E3887E16B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210175"/>
            <a:ext cx="4048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978"/>
                </a:solidFill>
              </a:defRPr>
            </a:pPr>
            <a:r>
              <a:rPr sz="1200" b="0">
                <a:solidFill>
                  <a:srgbClr val="5C6978"/>
                </a:solidFill>
              </a:rPr>
              <a:t>Structures Phase 1/2/3 actions plus crew and equipment pre-positioning.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6FDD5D1-68AC-4BF2-B61E-34EF4EB05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C6978"/>
                </a:solidFill>
              </a:defRPr>
            </a:pPr>
            <a:r>
              <a:rPr sz="825" b="1">
                <a:solidFill>
                  <a:srgbClr val="5C6978"/>
                </a:solidFill>
              </a:rPr>
              <a:t>PORT PULSE  /  CODE BLOODED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B420031-DA06-40F8-9142-75B2DD7F7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C6978"/>
                </a:solidFill>
              </a:defRPr>
            </a:pPr>
            <a:r>
              <a:rPr sz="825" b="1">
                <a:solidFill>
                  <a:srgbClr val="5C6978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65040041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57F630D-C41F-4F25-9B18-F095CB0B9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E6E9E"/>
                </a:solidFill>
              </a:defRPr>
            </a:pPr>
            <a:r>
              <a:rPr sz="1050" b="1">
                <a:solidFill>
                  <a:srgbClr val="0E6E9E"/>
                </a:solidFill>
              </a:rPr>
              <a:t>AI &amp; TECHNICAL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E8E22E-C020-4A3A-9558-A770201F4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81B33"/>
                </a:solidFill>
              </a:defRPr>
            </a:pPr>
            <a:r>
              <a:rPr sz="2850" b="1">
                <a:solidFill>
                  <a:srgbClr val="081B33"/>
                </a:solidFill>
              </a:rPr>
              <a:t>Rules create the operational facts; Granite turns them into a plan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018346-9255-4AA7-83E4-F62141AD8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C6978"/>
                </a:solidFill>
              </a:defRPr>
            </a:pPr>
            <a:r>
              <a:rPr sz="1425" b="0">
                <a:solidFill>
                  <a:srgbClr val="5C6978"/>
                </a:solidFill>
              </a:rPr>
              <a:t>The AI is grounded in the project’s computed situation and assignments.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4A8302-02A0-43BE-A15A-0C449B184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EE8"/>
          </a:solidFill>
          <a:ln xmlns:a="http://schemas.openxmlformats.org/drawingml/2006/main" w="0">
            <a:solidFill>
              <a:srgbClr val="D5DE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442600-E515-4384-B4F4-2477AC89A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2095500" cy="16002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0">
            <a:solidFill>
              <a:srgbClr val="F5F7F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17BC36-4AF7-4943-AE44-DE0D2AAD1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813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C6978"/>
                </a:solidFill>
              </a:defRPr>
            </a:pPr>
            <a:r>
              <a:rPr sz="1125" b="1">
                <a:solidFill>
                  <a:srgbClr val="5C6978"/>
                </a:solidFill>
              </a:rPr>
              <a:t>INPUT DATA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E8E82C-5D8E-4137-A9F7-49CC12156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81350"/>
            <a:ext cx="1714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81B33"/>
                </a:solidFill>
              </a:defRPr>
            </a:pPr>
            <a:r>
              <a:rPr sz="1350" b="1">
                <a:solidFill>
                  <a:srgbClr val="081B33"/>
                </a:solidFill>
              </a:rPr>
              <a:t>Vessel schedules</a:t>
            </a:r>
          </a:p>
          <a:p xmlns:a="http://schemas.openxmlformats.org/drawingml/2006/main">
            <a:pPr algn="l">
              <a:defRPr sz="1350" b="1">
                <a:solidFill>
                  <a:srgbClr val="081B33"/>
                </a:solidFill>
              </a:defRPr>
            </a:pPr>
            <a:r>
              <a:rPr sz="1350" b="1">
                <a:solidFill>
                  <a:srgbClr val="081B33"/>
                </a:solidFill>
              </a:rPr>
              <a:t>Berth capacity</a:t>
            </a:r>
          </a:p>
          <a:p xmlns:a="http://schemas.openxmlformats.org/drawingml/2006/main">
            <a:pPr algn="l">
              <a:defRPr sz="1350" b="1">
                <a:solidFill>
                  <a:srgbClr val="081B33"/>
                </a:solidFill>
              </a:defRPr>
            </a:pPr>
            <a:r>
              <a:rPr sz="1350" b="1">
                <a:solidFill>
                  <a:srgbClr val="081B33"/>
                </a:solidFill>
              </a:rPr>
              <a:t>Incident data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DF3811-6D18-4AFC-A96C-8F8908F6D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3152775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47C7D7"/>
                </a:solidFill>
              </a:defRPr>
            </a:pPr>
            <a:r>
              <a:rPr sz="1950" b="1">
                <a:solidFill>
                  <a:srgbClr val="47C7D7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B0856D-4054-49B2-A52A-85B4B18BA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571750"/>
            <a:ext cx="2286000" cy="16002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0">
            <a:solidFill>
              <a:srgbClr val="F5F7F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BCBCE0-F3B0-4F6A-BDE9-E6C9337B3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781300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C6978"/>
                </a:solidFill>
              </a:defRPr>
            </a:pPr>
            <a:r>
              <a:rPr sz="1125" b="1">
                <a:solidFill>
                  <a:srgbClr val="5C6978"/>
                </a:solidFill>
              </a:rPr>
              <a:t>FASTAPI BACKEND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602966-5409-4C09-B98B-707522FB1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181350"/>
            <a:ext cx="1905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81B33"/>
                </a:solidFill>
              </a:defRPr>
            </a:pPr>
            <a:r>
              <a:rPr sz="1350" b="1">
                <a:solidFill>
                  <a:srgbClr val="081B33"/>
                </a:solidFill>
              </a:rPr>
              <a:t>Congestion engine</a:t>
            </a:r>
          </a:p>
          <a:p xmlns:a="http://schemas.openxmlformats.org/drawingml/2006/main">
            <a:pPr algn="l">
              <a:defRPr sz="1350" b="1">
                <a:solidFill>
                  <a:srgbClr val="081B33"/>
                </a:solidFill>
              </a:defRPr>
            </a:pPr>
            <a:r>
              <a:rPr sz="1350" b="1">
                <a:solidFill>
                  <a:srgbClr val="081B33"/>
                </a:solidFill>
              </a:rPr>
              <a:t>Berth assignment</a:t>
            </a:r>
          </a:p>
          <a:p xmlns:a="http://schemas.openxmlformats.org/drawingml/2006/main">
            <a:pPr algn="l">
              <a:defRPr sz="1350" b="1">
                <a:solidFill>
                  <a:srgbClr val="081B33"/>
                </a:solidFill>
              </a:defRPr>
            </a:pPr>
            <a:r>
              <a:rPr sz="1350" b="1">
                <a:solidFill>
                  <a:srgbClr val="081B33"/>
                </a:solidFill>
              </a:rPr>
              <a:t>REST API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580DC5-A117-446D-8085-FC00628A3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1675" y="3152775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47C7D7"/>
                </a:solidFill>
              </a:defRPr>
            </a:pPr>
            <a:r>
              <a:rPr sz="1950" b="1">
                <a:solidFill>
                  <a:srgbClr val="47C7D7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91E8F27-657E-4129-8715-6AB450905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571750"/>
            <a:ext cx="2286000" cy="16002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DFF6F4"/>
          </a:solidFill>
          <a:ln xmlns:a="http://schemas.openxmlformats.org/drawingml/2006/main" w="0">
            <a:solidFill>
              <a:srgbClr val="DFF6F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9164944-8F40-481A-8DAB-C3F360A8F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781300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E6E9E"/>
                </a:solidFill>
              </a:defRPr>
            </a:pPr>
            <a:r>
              <a:rPr sz="1125" b="1">
                <a:solidFill>
                  <a:srgbClr val="0E6E9E"/>
                </a:solidFill>
              </a:rPr>
              <a:t>watsonx.ai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324105F-971B-413D-945A-48A015C11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181350"/>
            <a:ext cx="1905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81B33"/>
                </a:solidFill>
              </a:defRPr>
            </a:pPr>
            <a:r>
              <a:rPr sz="1350" b="1">
                <a:solidFill>
                  <a:srgbClr val="081B33"/>
                </a:solidFill>
              </a:rPr>
              <a:t>Granite 13B Instruct</a:t>
            </a:r>
          </a:p>
          <a:p xmlns:a="http://schemas.openxmlformats.org/drawingml/2006/main">
            <a:pPr algn="l">
              <a:defRPr sz="1350" b="1">
                <a:solidFill>
                  <a:srgbClr val="081B33"/>
                </a:solidFill>
              </a:defRPr>
            </a:pPr>
            <a:r>
              <a:rPr sz="1350" b="1">
                <a:solidFill>
                  <a:srgbClr val="081B33"/>
                </a:solidFill>
              </a:rPr>
              <a:t>72-hour plan generation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48FDD09-AA01-4590-9B30-7CB1665F5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8225" y="3152775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47C7D7"/>
                </a:solidFill>
              </a:defRPr>
            </a:pPr>
            <a:r>
              <a:rPr sz="1950" b="1">
                <a:solidFill>
                  <a:srgbClr val="47C7D7"/>
                </a:solidFill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3BC4A03-20B9-405E-9F84-4589C42C7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571750"/>
            <a:ext cx="2095500" cy="16002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0">
            <a:solidFill>
              <a:srgbClr val="F5F7F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57AF092-BF8B-4FF2-9AFD-BCCB927A6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7813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C6978"/>
                </a:solidFill>
              </a:defRPr>
            </a:pPr>
            <a:r>
              <a:rPr sz="1125" b="1">
                <a:solidFill>
                  <a:srgbClr val="5C6978"/>
                </a:solidFill>
              </a:rPr>
              <a:t>WEB DASHBOARD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FDE495C-C1C3-44EA-9660-D8D56DE92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181350"/>
            <a:ext cx="1714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81B33"/>
                </a:solidFill>
              </a:defRPr>
            </a:pPr>
            <a:r>
              <a:rPr sz="1350" b="1">
                <a:solidFill>
                  <a:srgbClr val="081B33"/>
                </a:solidFill>
              </a:rPr>
              <a:t>Terminal view</a:t>
            </a:r>
          </a:p>
          <a:p xmlns:a="http://schemas.openxmlformats.org/drawingml/2006/main">
            <a:pPr algn="l">
              <a:defRPr sz="1350" b="1">
                <a:solidFill>
                  <a:srgbClr val="081B33"/>
                </a:solidFill>
              </a:defRPr>
            </a:pPr>
            <a:r>
              <a:rPr sz="1350" b="1">
                <a:solidFill>
                  <a:srgbClr val="081B33"/>
                </a:solidFill>
              </a:rPr>
              <a:t>Fleet + charts</a:t>
            </a:r>
          </a:p>
          <a:p xmlns:a="http://schemas.openxmlformats.org/drawingml/2006/main">
            <a:pPr algn="l">
              <a:defRPr sz="1350" b="1">
                <a:solidFill>
                  <a:srgbClr val="081B33"/>
                </a:solidFill>
              </a:defRPr>
            </a:pPr>
            <a:r>
              <a:rPr sz="1350" b="1">
                <a:solidFill>
                  <a:srgbClr val="081B33"/>
                </a:solidFill>
              </a:rPr>
              <a:t>Operations plan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D35A89E-379E-4C04-BF5E-1C82128A6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67300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C6978"/>
                </a:solidFill>
              </a:defRPr>
            </a:pPr>
            <a:r>
              <a:rPr sz="1350" b="0">
                <a:solidFill>
                  <a:srgbClr val="5C6978"/>
                </a:solidFill>
              </a:rPr>
              <a:t>Implementation: Python 3.11  •  FastAPI + Uvicorn  •  Chart.js  •  JSON/CSV  •  Pydantic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0F82F31-87EF-492A-8026-282FB6F7E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C6978"/>
                </a:solidFill>
              </a:defRPr>
            </a:pPr>
            <a:r>
              <a:rPr sz="825" b="1">
                <a:solidFill>
                  <a:srgbClr val="5C6978"/>
                </a:solidFill>
              </a:rPr>
              <a:t>PORT PULSE  /  CODE BLOODED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DED18F7-ADE3-4820-82AF-24195DD8E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C6978"/>
                </a:solidFill>
              </a:defRPr>
            </a:pPr>
            <a:r>
              <a:rPr sz="825" b="1">
                <a:solidFill>
                  <a:srgbClr val="5C6978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212893748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B391B87-6465-40DF-8E32-BFE205ADA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E6E9E"/>
                </a:solidFill>
              </a:defRPr>
            </a:pPr>
            <a:r>
              <a:rPr sz="1050" b="1">
                <a:solidFill>
                  <a:srgbClr val="0E6E9E"/>
                </a:solidFill>
              </a:rPr>
              <a:t>PRODUCT EXPERIENCE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7CFD06-6336-4935-B449-3AD4AB94F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81B33"/>
                </a:solidFill>
              </a:defRPr>
            </a:pPr>
            <a:r>
              <a:rPr sz="2850" b="1">
                <a:solidFill>
                  <a:srgbClr val="081B33"/>
                </a:solidFill>
              </a:rPr>
              <a:t>A live dashboard connects situational awareness to action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439B22-893C-4E11-95B0-3D01DC1FD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C6978"/>
                </a:solidFill>
              </a:defRPr>
            </a:pPr>
            <a:r>
              <a:rPr sz="1425" b="0">
                <a:solidFill>
                  <a:srgbClr val="5C6978"/>
                </a:solidFill>
              </a:rPr>
              <a:t>The deployed app presents fleet, terminal, map, analytics, and AI-plan views in one workspace.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12448C-D9DB-4357-86C1-F2EDDA1A2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EE8"/>
          </a:solidFill>
          <a:ln xmlns:a="http://schemas.openxmlformats.org/drawingml/2006/main" w="0">
            <a:solidFill>
              <a:srgbClr val="D5DE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C50A5B-E1DE-4A75-83A6-2AA0CFE85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1082040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0">
            <a:solidFill>
              <a:srgbClr val="F7FAF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B9C531-94B6-4178-9FFC-E5A32553D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51460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C6978"/>
                </a:solidFill>
              </a:defRPr>
            </a:pPr>
            <a:r>
              <a:rPr sz="975" b="1">
                <a:solidFill>
                  <a:srgbClr val="5C6978"/>
                </a:solidFill>
              </a:rPr>
              <a:t>OPERATIONS OVERVIEW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931078-71D0-493C-9C59-424BA30FE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990850"/>
            <a:ext cx="466725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04DA73-8AA8-479F-AA79-6E8757F9B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133725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81B33"/>
                </a:solidFill>
              </a:defRPr>
            </a:pPr>
            <a:r>
              <a:rPr sz="1350" b="1">
                <a:solidFill>
                  <a:srgbClr val="081B33"/>
                </a:solidFill>
              </a:rPr>
              <a:t>Terminal scores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CD3D7C-C0B3-44E4-8748-7BA3EF5C6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390900"/>
            <a:ext cx="304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C6978"/>
                </a:solidFill>
              </a:defRPr>
            </a:pPr>
            <a:r>
              <a:rPr sz="1125" b="0">
                <a:solidFill>
                  <a:srgbClr val="5C6978"/>
                </a:solidFill>
              </a:rPr>
              <a:t>Congestion by terminal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6D5020-417E-444D-BF5A-AC7BE71CD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181350"/>
            <a:ext cx="3619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5F7"/>
          </a:solidFill>
          <a:ln xmlns:a="http://schemas.openxmlformats.org/drawingml/2006/main" w="0">
            <a:solidFill>
              <a:srgbClr val="EAF5F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288A6C-8EE7-4842-AEA5-A73AA821F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209925"/>
            <a:ext cx="361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47C7D7"/>
                </a:solidFill>
              </a:defRPr>
            </a:pPr>
            <a:r>
              <a:rPr sz="1050" b="1">
                <a:solidFill>
                  <a:srgbClr val="47C7D7"/>
                </a:solidFill>
              </a:rPr>
              <a:t>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6EAFEC-F380-4E11-B499-661579A9E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990850"/>
            <a:ext cx="466725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7F9F67-13A7-43FD-94A4-F5763D6E7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133725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81B33"/>
                </a:solidFill>
              </a:defRPr>
            </a:pPr>
            <a:r>
              <a:rPr sz="1350" b="1">
                <a:solidFill>
                  <a:srgbClr val="081B33"/>
                </a:solidFill>
              </a:rPr>
              <a:t>Active fleet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F2FDF8D-A876-4054-B3F1-632297F35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390900"/>
            <a:ext cx="304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C6978"/>
                </a:solidFill>
              </a:defRPr>
            </a:pPr>
            <a:r>
              <a:rPr sz="1125" b="0">
                <a:solidFill>
                  <a:srgbClr val="5C6978"/>
                </a:solidFill>
              </a:rPr>
              <a:t>Searchable vessel list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516D959-8E57-4037-95F9-61C6AFEBC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3181350"/>
            <a:ext cx="3619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5F7"/>
          </a:solidFill>
          <a:ln xmlns:a="http://schemas.openxmlformats.org/drawingml/2006/main" w="0">
            <a:solidFill>
              <a:srgbClr val="EAF5F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79D6534-9999-4217-BCA0-30BE985F3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3209925"/>
            <a:ext cx="361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47C7D7"/>
                </a:solidFill>
              </a:defRPr>
            </a:pPr>
            <a:r>
              <a:rPr sz="1050" b="1">
                <a:solidFill>
                  <a:srgbClr val="47C7D7"/>
                </a:solidFill>
              </a:rPr>
              <a:t>•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107681A-D30F-469C-843F-35FEE0194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981450"/>
            <a:ext cx="466725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4FCF3C4-E195-4764-AD82-05816A034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124325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81B33"/>
                </a:solidFill>
              </a:defRPr>
            </a:pPr>
            <a:r>
              <a:rPr sz="1350" b="1">
                <a:solidFill>
                  <a:srgbClr val="081B33"/>
                </a:solidFill>
              </a:rPr>
              <a:t>Map + analytics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FA9206C-DEC5-404E-B7FE-E7C775EF3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381500"/>
            <a:ext cx="304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C6978"/>
                </a:solidFill>
              </a:defRPr>
            </a:pPr>
            <a:r>
              <a:rPr sz="1125" b="0">
                <a:solidFill>
                  <a:srgbClr val="5C6978"/>
                </a:solidFill>
              </a:rPr>
              <a:t>Fleet and vessel-type charts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51090C0-1F5B-493D-BAB6-7C9025EC4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4171950"/>
            <a:ext cx="3619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5F7"/>
          </a:solidFill>
          <a:ln xmlns:a="http://schemas.openxmlformats.org/drawingml/2006/main" w="0">
            <a:solidFill>
              <a:srgbClr val="EAF5F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30C942C-A482-4E97-8AE0-768DBB213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4200525"/>
            <a:ext cx="361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47C7D7"/>
                </a:solidFill>
              </a:defRPr>
            </a:pPr>
            <a:r>
              <a:rPr sz="1050" b="1">
                <a:solidFill>
                  <a:srgbClr val="47C7D7"/>
                </a:solidFill>
              </a:rPr>
              <a:t>•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D6DAB09-7698-4939-9543-57B4631A8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981450"/>
            <a:ext cx="466725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6A510D3-3B3B-4050-8E7B-0D1658DF9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124325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81B33"/>
                </a:solidFill>
              </a:defRPr>
            </a:pPr>
            <a:r>
              <a:rPr sz="1350" b="1">
                <a:solidFill>
                  <a:srgbClr val="081B33"/>
                </a:solidFill>
              </a:rPr>
              <a:t>72-hour plan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AD14706-6FFF-4E28-88BE-1B0B3D572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381500"/>
            <a:ext cx="304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C6978"/>
                </a:solidFill>
              </a:defRPr>
            </a:pPr>
            <a:r>
              <a:rPr sz="1125" b="0">
                <a:solidFill>
                  <a:srgbClr val="5C6978"/>
                </a:solidFill>
              </a:rPr>
              <a:t>Generate / regenerate action plan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8203B4A-5111-41E0-93D7-F61C205FD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4171950"/>
            <a:ext cx="3619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DFF6F4"/>
          </a:solidFill>
          <a:ln xmlns:a="http://schemas.openxmlformats.org/drawingml/2006/main" w="0">
            <a:solidFill>
              <a:srgbClr val="DFF6F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BD38238-7105-4E07-A929-49289B0E5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4200525"/>
            <a:ext cx="361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E6E9E"/>
                </a:solidFill>
              </a:defRPr>
            </a:pPr>
            <a:r>
              <a:rPr sz="1050" b="1">
                <a:solidFill>
                  <a:srgbClr val="0E6E9E"/>
                </a:solidFill>
              </a:rPr>
              <a:t>AI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034A38C-F546-4BC6-9CF7-44811C8A7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978"/>
                </a:solidFill>
              </a:defRPr>
            </a:pPr>
            <a:r>
              <a:rPr sz="1200" b="0">
                <a:solidFill>
                  <a:srgbClr val="5C6978"/>
                </a:solidFill>
              </a:rPr>
              <a:t>Live verification note: the deployed experience identifies itself as “Mock Mode”; the project documents its input data as synthetic.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3EA2F19-DE56-47C1-BFDC-0C7E08BF2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C6978"/>
                </a:solidFill>
              </a:defRPr>
            </a:pPr>
            <a:r>
              <a:rPr sz="825" b="1">
                <a:solidFill>
                  <a:srgbClr val="5C6978"/>
                </a:solidFill>
              </a:rPr>
              <a:t>PORT PULSE  /  CODE BLOODED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3B6295D-247E-4307-BE72-BC1D67EB3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C6978"/>
                </a:solidFill>
              </a:defRPr>
            </a:pPr>
            <a:r>
              <a:rPr sz="825" b="1">
                <a:solidFill>
                  <a:srgbClr val="5C6978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204513453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CE35E46-9563-4496-BF4F-46ABA5EC7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E6E9E"/>
                </a:solidFill>
              </a:defRPr>
            </a:pPr>
            <a:r>
              <a:rPr sz="1050" b="1">
                <a:solidFill>
                  <a:srgbClr val="0E6E9E"/>
                </a:solidFill>
              </a:rPr>
              <a:t>WHY IT STANDS OUT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59CFF7-9F35-4F9C-991C-75D2053B9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81B33"/>
                </a:solidFill>
              </a:defRPr>
            </a:pPr>
            <a:r>
              <a:rPr sz="2850" b="1">
                <a:solidFill>
                  <a:srgbClr val="081B33"/>
                </a:solidFill>
              </a:rPr>
              <a:t>One score that can trigger a complete operational response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2A03B1-6517-44EA-B324-70671AF14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C6978"/>
                </a:solidFill>
              </a:defRPr>
            </a:pPr>
            <a:r>
              <a:rPr sz="1425" b="0">
                <a:solidFill>
                  <a:srgbClr val="5C6978"/>
                </a:solidFill>
              </a:rPr>
              <a:t>Port Pulse links prediction, assignment, and human-readable action rather than stopping at visibility.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474704-FBED-490D-8A3F-18FFA1F78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EE8"/>
          </a:solidFill>
          <a:ln xmlns:a="http://schemas.openxmlformats.org/drawingml/2006/main" w="0">
            <a:solidFill>
              <a:srgbClr val="D5DE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C8C181-B873-42A7-9CC2-10AF362CA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90800"/>
            <a:ext cx="323850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0">
            <a:solidFill>
              <a:srgbClr val="F5F7F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9B60B1-5A9B-41C0-8D4A-FA549ED7D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0035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47C7D7"/>
                </a:solidFill>
              </a:defRPr>
            </a:pPr>
            <a:r>
              <a:rPr sz="2100" b="1">
                <a:solidFill>
                  <a:srgbClr val="47C7D7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9968DB-BB7E-402D-97B2-9F17D3CA5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86125"/>
            <a:ext cx="2714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E6E9E"/>
                </a:solidFill>
              </a:defRPr>
            </a:pPr>
            <a:r>
              <a:rPr sz="1350" b="1">
                <a:solidFill>
                  <a:srgbClr val="0E6E9E"/>
                </a:solidFill>
              </a:rPr>
              <a:t>MULTI-FACTOR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B209A4-5DDF-40C9-BE57-269A703BA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76650"/>
            <a:ext cx="2667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81B33"/>
                </a:solidFill>
              </a:defRPr>
            </a:pPr>
            <a:r>
              <a:rPr sz="1200" b="0">
                <a:solidFill>
                  <a:srgbClr val="081B33"/>
                </a:solidFill>
              </a:rPr>
              <a:t>Combines berth utilisation, queue pressure, incident history, and priority vessel load.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1D1AFB-5637-49CF-99C3-737972DC7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590800"/>
            <a:ext cx="323850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EAF5F7"/>
          </a:solidFill>
          <a:ln xmlns:a="http://schemas.openxmlformats.org/drawingml/2006/main" w="0">
            <a:solidFill>
              <a:srgbClr val="EAF5F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966DA3-32A3-4F28-ABEF-5EF3154AB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80035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47C7D7"/>
                </a:solidFill>
              </a:defRPr>
            </a:pPr>
            <a:r>
              <a:rPr sz="2100" b="1">
                <a:solidFill>
                  <a:srgbClr val="47C7D7"/>
                </a:solidFill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80FCD2-9C2F-4C67-88BC-A24FAC067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286125"/>
            <a:ext cx="2714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E6E9E"/>
                </a:solidFill>
              </a:defRPr>
            </a:pPr>
            <a:r>
              <a:rPr sz="1350" b="1">
                <a:solidFill>
                  <a:srgbClr val="0E6E9E"/>
                </a:solidFill>
              </a:rPr>
              <a:t>CONSTRAINT-AWARE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E1DA09-21A5-4C67-B41A-08A8224F5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676650"/>
            <a:ext cx="2667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81B33"/>
                </a:solidFill>
              </a:defRPr>
            </a:pPr>
            <a:r>
              <a:rPr sz="1200" b="0">
                <a:solidFill>
                  <a:srgbClr val="081B33"/>
                </a:solidFill>
              </a:rPr>
              <a:t>Accounts for vessel length, TEU capacity, water depth, and hazmat conditions.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2181FF-3855-4521-B7F3-D3AAF022D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590800"/>
            <a:ext cx="323850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0">
            <a:solidFill>
              <a:srgbClr val="F5F7F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59FFAF5-9EA6-418D-8619-71CE09B80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80035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47C7D7"/>
                </a:solidFill>
              </a:defRPr>
            </a:pPr>
            <a:r>
              <a:rPr sz="2100" b="1">
                <a:solidFill>
                  <a:srgbClr val="47C7D7"/>
                </a:solidFill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A9CC260-11CE-4B2F-BAE9-B22F79316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286125"/>
            <a:ext cx="2714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E6E9E"/>
                </a:solidFill>
              </a:defRPr>
            </a:pPr>
            <a:r>
              <a:rPr sz="1350" b="1">
                <a:solidFill>
                  <a:srgbClr val="0E6E9E"/>
                </a:solidFill>
              </a:rPr>
              <a:t>ACTIONABLE AI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E0F1803-EEF8-4E58-9C75-72973062B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676650"/>
            <a:ext cx="2667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81B33"/>
                </a:solidFill>
              </a:defRPr>
            </a:pPr>
            <a:r>
              <a:rPr sz="1200" b="0">
                <a:solidFill>
                  <a:srgbClr val="081B33"/>
                </a:solidFill>
              </a:rPr>
              <a:t>Produces phased 72-hour actions with crew and equipment pre-positioning.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1E023D7-BBD0-45E0-900B-210307F9A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292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C7D7"/>
          </a:solidFill>
          <a:ln xmlns:a="http://schemas.openxmlformats.org/drawingml/2006/main" w="0">
            <a:solidFill>
              <a:srgbClr val="47C7D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953DA70-FA2D-4B31-8293-C5378B262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38800"/>
            <a:ext cx="1028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C6978"/>
                </a:solidFill>
              </a:defRPr>
            </a:pPr>
            <a:r>
              <a:rPr sz="1275" b="0">
                <a:solidFill>
                  <a:srgbClr val="5C6978"/>
                </a:solidFill>
              </a:rPr>
              <a:t>Built honestly for the hackathon: synthetic data, no weather model yet, and a greedy best-fit assignment (not production optimisation).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2C685AC-9AA1-4E71-A630-7CFBE285A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C6978"/>
                </a:solidFill>
              </a:defRPr>
            </a:pPr>
            <a:r>
              <a:rPr sz="825" b="1">
                <a:solidFill>
                  <a:srgbClr val="5C6978"/>
                </a:solidFill>
              </a:rPr>
              <a:t>PORT PULSE  /  CODE BLOODED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2E13090-A0D3-4A60-8CBF-1E325E657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C6978"/>
                </a:solidFill>
              </a:defRPr>
            </a:pPr>
            <a:r>
              <a:rPr sz="825" b="1">
                <a:solidFill>
                  <a:srgbClr val="5C6978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52518404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30C45D7-E876-4B9F-B753-56B33FE5B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B33"/>
          </a:solidFill>
          <a:ln xmlns:a="http://schemas.openxmlformats.org/drawingml/2006/main" w="0">
            <a:solidFill>
              <a:srgbClr val="081B33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C208C5-44A0-4AC9-B489-25704D0D9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7C7D7"/>
                </a:solidFill>
              </a:defRPr>
            </a:pPr>
            <a:r>
              <a:rPr sz="1125" b="1">
                <a:solidFill>
                  <a:srgbClr val="47C7D7"/>
                </a:solidFill>
              </a:rPr>
              <a:t>DEMO / IMPACT / USP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18B34E-200D-48D3-ADB9-F7AA1397F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61912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FFFFFF"/>
                </a:solidFill>
              </a:defRPr>
            </a:pPr>
            <a:r>
              <a:rPr sz="3900" b="1">
                <a:solidFill>
                  <a:srgbClr val="FFFFFF"/>
                </a:solidFill>
              </a:rPr>
              <a:t>From port pressure</a:t>
            </a:r>
          </a:p>
          <a:p xmlns:a="http://schemas.openxmlformats.org/drawingml/2006/main">
            <a:pPr algn="l">
              <a:defRPr sz="3900" b="1">
                <a:solidFill>
                  <a:srgbClr val="FFFFFF"/>
                </a:solidFill>
              </a:defRPr>
            </a:pPr>
            <a:r>
              <a:rPr sz="3900" b="1">
                <a:solidFill>
                  <a:srgbClr val="FFFFFF"/>
                </a:solidFill>
              </a:rPr>
              <a:t>to the next action.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328672-367D-433A-ABB4-EB0F58DDD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00350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9EAF1"/>
                </a:solidFill>
              </a:defRPr>
            </a:pPr>
            <a:r>
              <a:rPr sz="1500" b="0">
                <a:solidFill>
                  <a:srgbClr val="D9EAF1"/>
                </a:solidFill>
              </a:rPr>
              <a:t>Port Pulse gives a shift supervisor one connected decision loop: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3AA67E-05E5-42D4-A198-764650F67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0"/>
            <a:ext cx="3048000" cy="108585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103555"/>
          </a:solidFill>
          <a:ln xmlns:a="http://schemas.openxmlformats.org/drawingml/2006/main" w="0">
            <a:solidFill>
              <a:srgbClr val="10355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3D81BD-9BEE-4012-B888-A1EC5F49E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14750"/>
            <a:ext cx="333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47C7D7"/>
                </a:solidFill>
              </a:defRPr>
            </a:pPr>
            <a:r>
              <a:rPr sz="2175" b="1">
                <a:solidFill>
                  <a:srgbClr val="47C7D7"/>
                </a:solidFill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0A02BC-4CAB-4D9F-BA1B-7565EFD0E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338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Load the operational view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69D679-910A-49B8-B8B5-4C4A99BCE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524250"/>
            <a:ext cx="3048000" cy="108585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103555"/>
          </a:solidFill>
          <a:ln xmlns:a="http://schemas.openxmlformats.org/drawingml/2006/main" w="0">
            <a:solidFill>
              <a:srgbClr val="10355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73B097-A0FA-49B3-BCF1-4DAA518FB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714750"/>
            <a:ext cx="333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47C7D7"/>
                </a:solidFill>
              </a:defRPr>
            </a:pPr>
            <a:r>
              <a:rPr sz="2175" b="1">
                <a:solidFill>
                  <a:srgbClr val="47C7D7"/>
                </a:solidFill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E16167-A22E-466B-9AF9-EF40B90E9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1338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Inspect terminal pressure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B7DAD1-826B-4702-B1E4-50F42048E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524250"/>
            <a:ext cx="3048000" cy="108585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103555"/>
          </a:solidFill>
          <a:ln xmlns:a="http://schemas.openxmlformats.org/drawingml/2006/main" w="0">
            <a:solidFill>
              <a:srgbClr val="10355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E24B20-AF25-40F4-A2A6-E0AFF3A0A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714750"/>
            <a:ext cx="333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47C7D7"/>
                </a:solidFill>
              </a:defRPr>
            </a:pPr>
            <a:r>
              <a:rPr sz="2175" b="1">
                <a:solidFill>
                  <a:srgbClr val="47C7D7"/>
                </a:solidFill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5682FA-99B0-40F8-A09A-BC6BFA266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1338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Generate the 72-hour plan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EED7C0-F556-40A1-9353-96C67E5E0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876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USP: A multi-factor congestion score directly drives constraint-aware berth choices and an AI-generated operating plan.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9398EBF-A4E4-424F-B8F2-6B8A47EE3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48375"/>
            <a:ext cx="790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7C7D7"/>
                </a:solidFill>
              </a:defRPr>
            </a:pPr>
            <a:r>
              <a:rPr sz="1350" b="1">
                <a:solidFill>
                  <a:srgbClr val="47C7D7"/>
                </a:solidFill>
              </a:rPr>
              <a:t>Predict earlier. Coordinate smarter. Act within 72 hours.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4CC1215-022B-40C4-BF34-4ADFAA693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048375"/>
            <a:ext cx="18383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B7DCEC"/>
                </a:solidFill>
              </a:defRPr>
            </a:pPr>
            <a:r>
              <a:rPr sz="1125" b="1">
                <a:solidFill>
                  <a:srgbClr val="B7DCEC"/>
                </a:solidFill>
              </a:rPr>
              <a:t>CODE BLOODED</a:t>
            </a:r>
          </a:p>
        </p:txBody>
      </p:sp>
    </p:spTree>
    <p:extLst>
      <p:ext uri="{BB962C8B-B14F-4D97-AF65-F5344CB8AC3E}">
        <p14:creationId xmlns:p14="http://schemas.microsoft.com/office/powerpoint/2010/main" val="143703126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2026-09-15T16:24:58.3580000Z</dcterms:created>
  <dcterms:modified xsi:type="dcterms:W3CDTF">2026-09-15T16:24:58.3580000Z</dcterms:modified>
</coreProperties>
</file>